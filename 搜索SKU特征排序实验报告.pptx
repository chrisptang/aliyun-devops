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5090"/>
                </a:solidFill>
              </a:defRPr>
            </a:pPr>
            <a:r>
              <a:t>搜索使用SKU特征排序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A/B测试实验结果报告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B9BD5"/>
                </a:solidFill>
              </a:defRPr>
            </a:pPr>
            <a:r>
              <a:t>2026-03-05 ~ 2026-03-10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5090"/>
                </a:solidFill>
              </a:defRPr>
            </a:pPr>
            <a:r>
              <a:t>实验概况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>
                <a:solidFill>
                  <a:srgbClr val="333333"/>
                </a:solidFill>
              </a:defRPr>
            </a:pPr>
            <a:r>
              <a:t>• 实验时间：2026-03-05 ~ 2026-03-10（6天）</a:t>
            </a:r>
          </a:p>
          <a:p>
            <a:pPr>
              <a:spcBef>
                <a:spcPts val="1600"/>
              </a:spcBef>
              <a:defRPr sz="2200">
                <a:solidFill>
                  <a:srgbClr val="333333"/>
                </a:solidFill>
              </a:defRPr>
            </a:pPr>
            <a:r>
              <a:t>• 分组策略：V1/V2 对照组，V3/V4 实验组</a:t>
            </a:r>
          </a:p>
          <a:p>
            <a:pPr>
              <a:spcBef>
                <a:spcPts val="1600"/>
              </a:spcBef>
              <a:defRPr sz="2200">
                <a:solidFill>
                  <a:srgbClr val="333333"/>
                </a:solidFill>
              </a:defRPr>
            </a:pPr>
            <a:r>
              <a:t>• 分流维度：搜索频次（top400 / top400以外）</a:t>
            </a:r>
          </a:p>
          <a:p>
            <a:pPr>
              <a:spcBef>
                <a:spcPts val="1600"/>
              </a:spcBef>
              <a:defRPr sz="2200">
                <a:solidFill>
                  <a:srgbClr val="333333"/>
                </a:solidFill>
              </a:defRPr>
            </a:pPr>
            <a:r>
              <a:t>• 显著性标准：P-value ≤ 0.05</a:t>
            </a:r>
          </a:p>
          <a:p>
            <a:pPr>
              <a:spcBef>
                <a:spcPts val="1600"/>
              </a:spcBef>
              <a:defRPr sz="2200">
                <a:solidFill>
                  <a:srgbClr val="333333"/>
                </a:solidFill>
              </a:defRPr>
            </a:pPr>
            <a:r>
              <a:t>• 日均实验UV：top400 ~1,250人 / top400以外 ~550人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核心指标分析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5090"/>
                </a:solidFill>
              </a:defRPr>
            </a:pPr>
            <a:r>
              <a:t>1. SKU点击率（越高越好）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iqboyt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7315200" cy="3600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D7D31"/>
                </a:solidFill>
              </a:defRPr>
            </a:pPr>
            <a:r>
              <a:t>✅ V3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点击率提升7.23%</a:t>
            </a:r>
          </a:p>
          <a:p>
            <a:pPr>
              <a:defRPr sz="1400">
                <a:solidFill>
                  <a:srgbClr val="5B9BD5"/>
                </a:solidFill>
              </a:defRPr>
            </a:pPr>
            <a:r>
              <a:t>P=0.0299 显著</a:t>
            </a:r>
          </a:p>
          <a:p>
            <a:pPr>
              <a:spcBef>
                <a:spcPts val="2000"/>
              </a:spcBef>
            </a:pPr>
          </a:p>
          <a:p>
            <a:pPr>
              <a:defRPr sz="1800" b="1">
                <a:solidFill>
                  <a:srgbClr val="5B9BD5"/>
                </a:solidFill>
              </a:defRPr>
            </a:pPr>
            <a:r>
              <a:t>⚠️ V4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点击率提升5.55%</a:t>
            </a:r>
          </a:p>
          <a:p>
            <a:pPr>
              <a:defRPr sz="1400">
                <a:solidFill>
                  <a:srgbClr val="5B9BD5"/>
                </a:solidFill>
              </a:defRPr>
            </a:pPr>
            <a:r>
              <a:t>P=0.0918 接近显著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5090"/>
                </a:solidFill>
              </a:defRPr>
            </a:pPr>
            <a:r>
              <a:t>2. 平均点击位置（越小越好）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khdpyc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7315200" cy="3605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9BD5"/>
                </a:solidFill>
              </a:defRPr>
            </a:pPr>
            <a:r>
              <a:t>⚠️ V3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位置提前13.57%</a:t>
            </a:r>
          </a:p>
          <a:p>
            <a:pPr>
              <a:defRPr sz="1400">
                <a:solidFill>
                  <a:srgbClr val="5B9BD5"/>
                </a:solidFill>
              </a:defRPr>
            </a:pPr>
            <a:r>
              <a:t>P=0.0671 接近显著</a:t>
            </a:r>
          </a:p>
          <a:p>
            <a:pPr>
              <a:spcBef>
                <a:spcPts val="2000"/>
              </a:spcBef>
            </a:pPr>
          </a:p>
          <a:p>
            <a:pPr>
              <a:defRPr sz="1800" b="1">
                <a:solidFill>
                  <a:srgbClr val="5B9BD5"/>
                </a:solidFill>
              </a:defRPr>
            </a:pPr>
            <a:r>
              <a:t>— V4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位置提前9.10%</a:t>
            </a:r>
          </a:p>
          <a:p>
            <a:pPr>
              <a:defRPr sz="1400">
                <a:solidFill>
                  <a:srgbClr val="5B9BD5"/>
                </a:solidFill>
              </a:defRPr>
            </a:pPr>
            <a:r>
              <a:t>P=0.253 不显著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5090"/>
                </a:solidFill>
              </a:defRPr>
            </a:pPr>
            <a:r>
              <a:t>3. 商品查看次数（浏览深度）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m9gma_j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7315200" cy="3605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0000"/>
                </a:solidFill>
              </a:defRPr>
            </a:pPr>
            <a:r>
              <a:t>❌ V3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下降4.86%</a:t>
            </a:r>
          </a:p>
          <a:p>
            <a:pPr>
              <a:defRPr sz="1400">
                <a:solidFill>
                  <a:srgbClr val="5B9BD5"/>
                </a:solidFill>
              </a:defRPr>
            </a:pPr>
            <a:r>
              <a:t>P=0.0126 显著</a:t>
            </a:r>
          </a:p>
          <a:p>
            <a:pPr>
              <a:spcBef>
                <a:spcPts val="2000"/>
              </a:spcBef>
            </a:pPr>
          </a:p>
          <a:p>
            <a:pPr>
              <a:defRPr sz="1800" b="1">
                <a:solidFill>
                  <a:srgbClr val="C00000"/>
                </a:solidFill>
              </a:defRPr>
            </a:pPr>
            <a:r>
              <a:t>❌ V4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下降7.43%</a:t>
            </a:r>
          </a:p>
          <a:p>
            <a:pPr>
              <a:defRPr sz="1400">
                <a:solidFill>
                  <a:srgbClr val="5B9BD5"/>
                </a:solidFill>
              </a:defRPr>
            </a:pPr>
            <a:r>
              <a:t>P=0.0001 高度显著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5090"/>
                </a:solidFill>
              </a:defRPr>
            </a:pPr>
            <a:r>
              <a:t>4. 唤起购买次数（直接关联GMV）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c_raq_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7315200" cy="35960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9BD5"/>
                </a:solidFill>
              </a:defRPr>
            </a:pPr>
            <a:r>
              <a:t>— V3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下降1.81%</a:t>
            </a:r>
          </a:p>
          <a:p>
            <a:pPr>
              <a:defRPr sz="1400">
                <a:solidFill>
                  <a:srgbClr val="5B9BD5"/>
                </a:solidFill>
              </a:defRPr>
            </a:pPr>
            <a:r>
              <a:t>P=0.4301 不显著</a:t>
            </a:r>
          </a:p>
          <a:p>
            <a:pPr>
              <a:spcBef>
                <a:spcPts val="2000"/>
              </a:spcBef>
            </a:pPr>
          </a:p>
          <a:p>
            <a:pPr>
              <a:defRPr sz="1800" b="1">
                <a:solidFill>
                  <a:srgbClr val="C00000"/>
                </a:solidFill>
              </a:defRPr>
            </a:pPr>
            <a:r>
              <a:t>❌ V4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下降5.12%</a:t>
            </a:r>
          </a:p>
          <a:p>
            <a:pPr>
              <a:defRPr sz="1400">
                <a:solidFill>
                  <a:srgbClr val="5B9BD5"/>
                </a:solidFill>
              </a:defRPr>
            </a:pPr>
            <a:r>
              <a:t>P=0.0239 显著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V3 vs V4 策略对比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5090"/>
                </a:solidFill>
              </a:defRPr>
            </a:pPr>
            <a:r>
              <a:t>V3 vs V4 变化幅度对比（%）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6_u_wx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0759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164592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5090"/>
                </a:solidFill>
              </a:defRPr>
            </a:pPr>
            <a:r>
              <a:t>关键发现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SKU点击率：V3 &gt; V4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点击位置：V3 &gt; V4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商品查看：V3副作用更小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唤起购买：V3稳定，V4伤GMV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结论与建议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5090"/>
                </a:solidFill>
              </a:defRPr>
            </a:pPr>
            <a:r>
              <a:t>核心结论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D7D31"/>
                </a:solidFill>
              </a:defRPr>
            </a:pPr>
            <a:r>
              <a:t>✅ V3策略：正向效果显著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• SKU点击率 +7.23%（P=0.0299）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• 点击位置提前13.57%（P=0.0671）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• 唤起购买稳定（P=0.4301）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0000"/>
                </a:solidFill>
              </a:defRPr>
            </a:pPr>
            <a:r>
              <a:t>❌ V4策略：副作用明显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• 商品查看 -7.43%（P&lt;0.0001）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• 加购 -6.51%（P=0.0053）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</a:defRPr>
            </a:pPr>
            <a:r>
              <a:t>• 唤起购买 -5.12%（P=0.0239）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5090"/>
                </a:solidFill>
              </a:defRPr>
            </a:pPr>
            <a:r>
              <a:t>行动建议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5090"/>
                </a:solidFill>
              </a:defRPr>
            </a:pPr>
            <a:r>
              <a:t>【高优先级】上线V3策略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 正向效果显著，副作用可控</a:t>
            </a:r>
          </a:p>
          <a:p>
            <a:pPr>
              <a:spcBef>
                <a:spcPts val="800"/>
              </a:spcBef>
            </a:pPr>
          </a:p>
          <a:p>
            <a:pPr>
              <a:defRPr sz="1800" b="1">
                <a:solidFill>
                  <a:srgbClr val="2E5090"/>
                </a:solidFill>
              </a:defRPr>
            </a:pPr>
            <a:r>
              <a:t>【高优先级】暂缓V4策略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 多维度显著下降，风险较大</a:t>
            </a:r>
          </a:p>
          <a:p>
            <a:pPr>
              <a:spcBef>
                <a:spcPts val="800"/>
              </a:spcBef>
            </a:pPr>
          </a:p>
          <a:p>
            <a:pPr>
              <a:defRPr sz="1800" b="1">
                <a:solidFill>
                  <a:srgbClr val="2E5090"/>
                </a:solidFill>
              </a:defRPr>
            </a:pPr>
            <a:r>
              <a:t>【中优先级】延长实验周期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 当前仅6天，建议延长至2周确认趋势</a:t>
            </a:r>
          </a:p>
          <a:p>
            <a:pPr>
              <a:spcBef>
                <a:spcPts val="800"/>
              </a:spcBef>
            </a:pPr>
          </a:p>
          <a:p>
            <a:pPr>
              <a:defRPr sz="1800" b="1">
                <a:solidFill>
                  <a:srgbClr val="2E5090"/>
                </a:solidFill>
              </a:defRPr>
            </a:pPr>
            <a:r>
              <a:t>【后续优化】平衡精准与探索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 提升精准度的同时保留发现新商品的机会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E5090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B9BD5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